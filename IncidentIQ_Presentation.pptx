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26160" y="181080"/>
            <a:ext cx="8490960" cy="22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712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26160" y="29836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712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197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68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26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197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68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036578-0324-48EB-9DDB-0D281696B0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85A44D-F8BF-4474-A6D8-4F368E2DA9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6DD6C-1236-4A34-BE34-5AC6345C3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47D307-DF3C-47B1-92AA-74752AE482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B38639-0B14-4F3E-8523-177EBA39F1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26160" y="181080"/>
            <a:ext cx="8490960" cy="22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3ADE7-6395-47C6-B30A-1315CBF503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54626-B083-4271-99D2-E3B5B5903F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7712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5ABFA2-BBEA-4CFF-AD05-B45E079069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1AE21-2202-44A3-B633-19610CFA8A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26160" y="2983680"/>
            <a:ext cx="849096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0BDAD-EE3B-4666-A10E-B78EDAEBC5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77120" y="10882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2616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77120" y="2983680"/>
            <a:ext cx="41432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02F773-67D8-4EE7-A979-74586CFF3B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197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68160" y="10882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26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197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068160" y="2983680"/>
            <a:ext cx="2733840" cy="173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29FE6-C683-4F40-9029-DAAFE2038E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34920"/>
            <a:ext cx="9144000" cy="117936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32600"/>
            <a:ext cx="8164440" cy="108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IN" sz="332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26160" y="2902320"/>
            <a:ext cx="8490960" cy="163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marL="432000" indent="-324000">
              <a:spcBef>
                <a:spcPts val="106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1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IN" sz="211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1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IN" sz="181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1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IN" sz="151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67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IN" sz="167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3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6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IN" sz="186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5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07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IN" sz="207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326160" y="5261040"/>
            <a:ext cx="212292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3102120" y="5261040"/>
            <a:ext cx="293940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6694200" y="5261040"/>
            <a:ext cx="212292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fld id="{44A6EB8B-1D4F-4C90-A255-6927C25AE47A}" type="slidenum">
              <a:rPr b="0" lang="en-IN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360" y="360"/>
            <a:ext cx="9140760" cy="7257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2520" y="5079600"/>
            <a:ext cx="9140760" cy="6364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11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IN" sz="211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1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IN" sz="181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1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IN" sz="151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67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IN" sz="167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3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6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IN" sz="186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5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07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IN" sz="207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"/>
          </p:nvPr>
        </p:nvSpPr>
        <p:spPr>
          <a:xfrm>
            <a:off x="326160" y="5261040"/>
            <a:ext cx="212292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IN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"/>
          </p:nvPr>
        </p:nvSpPr>
        <p:spPr>
          <a:xfrm>
            <a:off x="3102120" y="5261040"/>
            <a:ext cx="293940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3"/>
          </p:nvPr>
        </p:nvSpPr>
        <p:spPr>
          <a:xfrm>
            <a:off x="6694200" y="5261040"/>
            <a:ext cx="2122920" cy="3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C3CC8140-9680-4750-9486-D0461E431F1D}" type="slidenum">
              <a:rPr b="0" lang="en-IN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75560" y="711720"/>
            <a:ext cx="8164440" cy="108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dd4100"/>
                </a:solidFill>
                <a:latin typeface="Arial"/>
              </a:rPr>
              <a:t>IncidentIQ</a:t>
            </a:r>
            <a:br>
              <a:rPr sz="3320"/>
            </a:br>
            <a:r>
              <a:rPr b="0" lang="en-IN" sz="3320" spc="-1" strike="noStrike">
                <a:solidFill>
                  <a:srgbClr val="dd4100"/>
                </a:solidFill>
                <a:latin typeface="Arial"/>
              </a:rPr>
              <a:t>Agentic AI Incident Management System</a:t>
            </a:r>
            <a:endParaRPr b="0" lang="en-IN" sz="332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26160" y="2902320"/>
            <a:ext cx="8490960" cy="163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Name: Anitha J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Technology: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FastAPI | LangGraph | LangChain | ChromaDB | RAG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Problem Statement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906480"/>
            <a:ext cx="8637120" cy="467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2420" spc="-1" strike="noStrike">
                <a:solidFill>
                  <a:srgbClr val="009bdd"/>
                </a:solidFill>
                <a:latin typeface="Arial"/>
              </a:rPr>
              <a:t>Challenges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Manual incident triage is time consuming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Knowledge retrieval requires searching multiple systems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Remediation actions are repetitive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Lack of centralized automation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2420" spc="-1" strike="noStrike">
                <a:solidFill>
                  <a:srgbClr val="009bdd"/>
                </a:solidFill>
                <a:latin typeface="Arial"/>
              </a:rPr>
              <a:t>Solution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IncidentIQ automates: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Triage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Knowledge Retrieval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Remediation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227"/>
              </a:spcBef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2420" spc="-1" strike="noStrike">
                <a:solidFill>
                  <a:srgbClr val="009bdd"/>
                </a:solidFill>
                <a:latin typeface="Arial"/>
              </a:rPr>
              <a:t>Notification</a:t>
            </a:r>
            <a:endParaRPr b="0" lang="en-IN" sz="2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9C2EB9-8C9F-431A-AD0F-D3B1DDDE4DFD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A9D45A7-7B21-40E7-8F46-33E879291FF1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Architecture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622320" y="1087920"/>
            <a:ext cx="1898280" cy="3628440"/>
          </a:xfrm>
          <a:prstGeom prst="rect">
            <a:avLst/>
          </a:prstGeom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29B03D-BA2D-4DEF-9DEE-DC70CB9A069B}" type="slidenum">
              <a:t>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83B8EE8-3E40-45E2-AF49-C0552265A86C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RAG Pipeline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3840" cy="431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1820" spc="-1" strike="noStrike">
                <a:solidFill>
                  <a:srgbClr val="009bdd"/>
                </a:solidFill>
                <a:latin typeface="Arial"/>
              </a:rPr>
              <a:t>Data Sources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Historical Incidents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Operational Runbooks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1820" spc="-1" strike="noStrike">
                <a:solidFill>
                  <a:srgbClr val="009bdd"/>
                </a:solidFill>
                <a:latin typeface="Arial"/>
              </a:rPr>
              <a:t>Workflow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Documents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 ↓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Chunking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 ↓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Embeddings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 ↓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ChromaDB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↓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Similarity Search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 ↓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 algn="ctr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820" spc="-1" strike="noStrike">
                <a:solidFill>
                  <a:srgbClr val="009bdd"/>
                </a:solidFill>
                <a:latin typeface="Arial"/>
              </a:rPr>
              <a:t>Retrieved Context</a:t>
            </a:r>
            <a:endParaRPr b="0" lang="en-IN" sz="18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C3E42A-59CE-4AE7-B435-16BC44604993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7433B4F-9001-4E12-8193-F13360C0CD3A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26160" y="18072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Tool Invocation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4" name=""/>
          <p:cNvGraphicFramePr/>
          <p:nvPr/>
        </p:nvGraphicFramePr>
        <p:xfrm>
          <a:off x="326160" y="1088280"/>
          <a:ext cx="8490600" cy="1384920"/>
        </p:xfrm>
        <a:graphic>
          <a:graphicData uri="http://schemas.openxmlformats.org/drawingml/2006/table">
            <a:tbl>
              <a:tblPr/>
              <a:tblGrid>
                <a:gridCol w="4245480"/>
                <a:gridCol w="4245480"/>
              </a:tblGrid>
              <a:tr h="3463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2400" spc="-1" strike="noStrike">
                          <a:latin typeface="Arial"/>
                        </a:rPr>
                        <a:t>Incident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2400" spc="-1" strike="noStrike">
                          <a:latin typeface="Arial"/>
                        </a:rPr>
                        <a:t>Tool Invoked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463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Disk Full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cleanup_disk()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63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Service Down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restart_service()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63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Failed Deployment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IN" sz="1800" spc="-1" strike="noStrike">
                          <a:latin typeface="Arial"/>
                        </a:rPr>
                        <a:t>rollback_deployment()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95" name=""/>
          <p:cNvSpPr txBox="1"/>
          <p:nvPr/>
        </p:nvSpPr>
        <p:spPr>
          <a:xfrm>
            <a:off x="180000" y="3538080"/>
            <a:ext cx="8100000" cy="6019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Remediation Agent automatically selects the appropriate tool based on classification.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A4C6B-C8B6-47CA-BECB-3016FD07B43F}" type="slidenum">
              <a:t>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AC14F41B-FC1C-4BA9-BC9E-14150B5BD4AD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Demo Results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395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Scenario 1: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Disk usage exceeded 95% on server01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Output: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Infra Classification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Runbook Retrieval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cleanup_disk()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Scenario 2: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Customer Portal Down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Output: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restart_service()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Scenario 3: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Deployment Failure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Output: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buClr>
                <a:srgbClr val="77caee"/>
              </a:buClr>
              <a:buSzPct val="45000"/>
              <a:buFont typeface="Wingdings" charset="2"/>
              <a:buChar char=""/>
            </a:pP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n-IN" sz="1420" spc="-1" strike="noStrike">
                <a:solidFill>
                  <a:srgbClr val="009bdd"/>
                </a:solidFill>
                <a:latin typeface="Arial"/>
              </a:rPr>
              <a:t>rollback_deployment()</a:t>
            </a:r>
            <a:endParaRPr b="0" lang="en-IN" sz="14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246AA-F228-4B43-80BB-B8E30F1E43B6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D903354-97FB-45A8-96AC-960993AEEB24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26160" y="181080"/>
            <a:ext cx="849096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3320" spc="-1" strike="noStrike">
                <a:solidFill>
                  <a:srgbClr val="ffffff"/>
                </a:solidFill>
                <a:latin typeface="Arial"/>
              </a:rPr>
              <a:t>Observability &amp; Lessons Learned</a:t>
            </a:r>
            <a:endParaRPr b="0" lang="en-IN" sz="3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26160" y="1088280"/>
            <a:ext cx="8490960" cy="36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1520" spc="-1" strike="noStrike">
                <a:solidFill>
                  <a:srgbClr val="009bdd"/>
                </a:solidFill>
                <a:latin typeface="Arial"/>
              </a:rPr>
              <a:t>Observability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Trace IDs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Structured JSON Logs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Prometheus Metrics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1520" spc="-1" strike="noStrike">
                <a:solidFill>
                  <a:srgbClr val="009bdd"/>
                </a:solidFill>
                <a:latin typeface="Arial"/>
              </a:rPr>
              <a:t>Lessons Learned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LangGraph simplifies orchestration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RAG improves grounding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Tool calling enables automation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Structured outputs improve reliability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n-IN" sz="1520" spc="-1" strike="noStrike">
                <a:solidFill>
                  <a:srgbClr val="009bdd"/>
                </a:solidFill>
                <a:latin typeface="Arial"/>
              </a:rPr>
              <a:t>Future Enhancements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Human-in-the-loop approvals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SSE Streaming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  <a:p>
            <a:pPr marL="360000"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IN" sz="1520" spc="-1" strike="noStrike">
                <a:solidFill>
                  <a:srgbClr val="009bdd"/>
                </a:solidFill>
                <a:latin typeface="Arial"/>
              </a:rPr>
              <a:t>Real LLM integration</a:t>
            </a:r>
            <a:endParaRPr b="0" lang="en-IN" sz="152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555AA5-8ACB-40DA-A266-17F63D192202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69D1CF3-0ABC-4C36-A4DD-E761BFDA7BBA}" type="datetime1">
              <a:rPr lang="en-IN"/>
              <a:t>08/06/2026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2026-06-08T02:42:54Z</dcterms:created>
  <dc:creator/>
  <dc:description/>
  <dc:language>en-IN</dc:language>
  <cp:lastModifiedBy/>
  <dcterms:modified xsi:type="dcterms:W3CDTF">2026-06-08T03:29:19Z</dcterms:modified>
  <cp:revision>2</cp:revision>
  <dc:subject/>
  <dc:title>Blue Curve</dc:title>
</cp:coreProperties>
</file>